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2918400" cy="21945600"/>
  <p:notesSz cx="6858000" cy="9144000"/>
  <p:embeddedFontLst>
    <p:embeddedFont>
      <p:font typeface="Montserrat ExtraBold" panose="020F0502020204030204" pitchFamily="2" charset="0"/>
      <p:regular r:id="rId4"/>
      <p:bold r:id="rId5"/>
      <p:italic r:id="rId6"/>
      <p:boldItalic r:id="rId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6912">
          <p15:clr>
            <a:srgbClr val="A4A3A4"/>
          </p15:clr>
        </p15:guide>
        <p15:guide id="2" pos="10344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5" roundtripDataSignature="AMtx7mjQZT1gxkSooBgxtoqdlHTMF03Vq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658"/>
  </p:normalViewPr>
  <p:slideViewPr>
    <p:cSldViewPr snapToGrid="0">
      <p:cViewPr varScale="1">
        <p:scale>
          <a:sx n="26" d="100"/>
          <a:sy n="26" d="100"/>
        </p:scale>
        <p:origin x="1185" y="249"/>
      </p:cViewPr>
      <p:guideLst>
        <p:guide orient="horz" pos="6912"/>
        <p:guide pos="1034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5" Type="http://schemas.openxmlformats.org/officeDocument/2006/relationships/font" Target="fonts/font2.fntdata"/><Relationship Id="rId15" Type="http://customschemas.google.com/relationships/presentationmetadata" Target="metadata"/><Relationship Id="rId19" Type="http://schemas.openxmlformats.org/officeDocument/2006/relationships/tableStyles" Target="tableStyles.xml"/><Relationship Id="rId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0" y="685800"/>
            <a:ext cx="51435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"/>
          <p:cNvSpPr txBox="1">
            <a:spLocks noGrp="1"/>
          </p:cNvSpPr>
          <p:nvPr>
            <p:ph type="dt" idx="10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3" name="Google Shape;13;p4"/>
          <p:cNvSpPr txBox="1">
            <a:spLocks noGrp="1"/>
          </p:cNvSpPr>
          <p:nvPr>
            <p:ph type="ftr" idx="11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4" name="Google Shape;14;p4"/>
          <p:cNvSpPr txBox="1">
            <a:spLocks noGrp="1"/>
          </p:cNvSpPr>
          <p:nvPr>
            <p:ph type="sldNum" idx="12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>
            <a:spLocks noGrp="1"/>
          </p:cNvSpPr>
          <p:nvPr>
            <p:ph type="title"/>
          </p:nvPr>
        </p:nvSpPr>
        <p:spPr>
          <a:xfrm>
            <a:off x="2263140" y="1168405"/>
            <a:ext cx="28392120" cy="4241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5"/>
          <p:cNvSpPr txBox="1">
            <a:spLocks noGrp="1"/>
          </p:cNvSpPr>
          <p:nvPr>
            <p:ph type="body" idx="1"/>
          </p:nvPr>
        </p:nvSpPr>
        <p:spPr>
          <a:xfrm>
            <a:off x="2263140" y="5842000"/>
            <a:ext cx="28392120" cy="13924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5"/>
          <p:cNvSpPr txBox="1">
            <a:spLocks noGrp="1"/>
          </p:cNvSpPr>
          <p:nvPr>
            <p:ph type="dt" idx="10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9" name="Google Shape;19;p5"/>
          <p:cNvSpPr txBox="1">
            <a:spLocks noGrp="1"/>
          </p:cNvSpPr>
          <p:nvPr>
            <p:ph type="ftr" idx="11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0" name="Google Shape;20;p5"/>
          <p:cNvSpPr txBox="1">
            <a:spLocks noGrp="1"/>
          </p:cNvSpPr>
          <p:nvPr>
            <p:ph type="sldNum" idx="12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>
            <a:spLocks noGrp="1"/>
          </p:cNvSpPr>
          <p:nvPr>
            <p:ph type="ctrTitle"/>
          </p:nvPr>
        </p:nvSpPr>
        <p:spPr>
          <a:xfrm>
            <a:off x="2468880" y="3591562"/>
            <a:ext cx="27980640" cy="764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0"/>
              <a:buFont typeface="Calibri"/>
              <a:buNone/>
              <a:defRPr sz="19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subTitle" idx="1"/>
          </p:nvPr>
        </p:nvSpPr>
        <p:spPr>
          <a:xfrm>
            <a:off x="4114800" y="11526522"/>
            <a:ext cx="24688800" cy="529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/>
            </a:lvl1pPr>
            <a:lvl2pPr lvl="1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6400"/>
              <a:buNone/>
              <a:defRPr sz="6400"/>
            </a:lvl2pPr>
            <a:lvl3pPr lvl="2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760"/>
              <a:buNone/>
              <a:defRPr sz="5760"/>
            </a:lvl3pPr>
            <a:lvl4pPr lvl="3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sz="5120"/>
            </a:lvl4pPr>
            <a:lvl5pPr lvl="4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sz="5120"/>
            </a:lvl5pPr>
            <a:lvl6pPr lvl="5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sz="5120"/>
            </a:lvl6pPr>
            <a:lvl7pPr lvl="6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sz="5120"/>
            </a:lvl7pPr>
            <a:lvl8pPr lvl="7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sz="5120"/>
            </a:lvl8pPr>
            <a:lvl9pPr lvl="8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sz="5120"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dt" idx="10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5" name="Google Shape;25;p6"/>
          <p:cNvSpPr txBox="1">
            <a:spLocks noGrp="1"/>
          </p:cNvSpPr>
          <p:nvPr>
            <p:ph type="ftr" idx="11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2245997" y="5471167"/>
            <a:ext cx="28392120" cy="9128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0"/>
              <a:buFont typeface="Calibri"/>
              <a:buNone/>
              <a:defRPr sz="19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body" idx="1"/>
          </p:nvPr>
        </p:nvSpPr>
        <p:spPr>
          <a:xfrm>
            <a:off x="2245997" y="14686287"/>
            <a:ext cx="28392120" cy="4800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6400"/>
              <a:buNone/>
              <a:defRPr sz="64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5760"/>
              <a:buNone/>
              <a:defRPr sz="576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5120"/>
              <a:buNone/>
              <a:defRPr sz="512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5120"/>
              <a:buNone/>
              <a:defRPr sz="512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5120"/>
              <a:buNone/>
              <a:defRPr sz="512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5120"/>
              <a:buNone/>
              <a:defRPr sz="512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5120"/>
              <a:buNone/>
              <a:defRPr sz="512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5120"/>
              <a:buNone/>
              <a:defRPr sz="512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dt" idx="10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1" name="Google Shape;31;p7"/>
          <p:cNvSpPr txBox="1">
            <a:spLocks noGrp="1"/>
          </p:cNvSpPr>
          <p:nvPr>
            <p:ph type="ftr" idx="11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2263140" y="1168405"/>
            <a:ext cx="28392120" cy="4241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body" idx="1"/>
          </p:nvPr>
        </p:nvSpPr>
        <p:spPr>
          <a:xfrm>
            <a:off x="2263140" y="5842000"/>
            <a:ext cx="13990320" cy="13924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body" idx="2"/>
          </p:nvPr>
        </p:nvSpPr>
        <p:spPr>
          <a:xfrm>
            <a:off x="16664940" y="5842000"/>
            <a:ext cx="13990320" cy="13924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dt" idx="10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8" name="Google Shape;38;p8"/>
          <p:cNvSpPr txBox="1">
            <a:spLocks noGrp="1"/>
          </p:cNvSpPr>
          <p:nvPr>
            <p:ph type="ftr" idx="11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9" name="Google Shape;39;p8"/>
          <p:cNvSpPr txBox="1">
            <a:spLocks noGrp="1"/>
          </p:cNvSpPr>
          <p:nvPr>
            <p:ph type="sldNum" idx="12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2267428" y="1168405"/>
            <a:ext cx="28392120" cy="4241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body" idx="1"/>
          </p:nvPr>
        </p:nvSpPr>
        <p:spPr>
          <a:xfrm>
            <a:off x="2267431" y="5379722"/>
            <a:ext cx="13926024" cy="2636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 b="1"/>
            </a:lvl1pPr>
            <a:lvl2pPr marL="914400" lvl="1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6400"/>
              <a:buNone/>
              <a:defRPr sz="6400" b="1"/>
            </a:lvl2pPr>
            <a:lvl3pPr marL="1371600" lvl="2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760"/>
              <a:buNone/>
              <a:defRPr sz="5760" b="1"/>
            </a:lvl3pPr>
            <a:lvl4pPr marL="1828800" lvl="3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sz="5120" b="1"/>
            </a:lvl4pPr>
            <a:lvl5pPr marL="2286000" lvl="4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sz="5120" b="1"/>
            </a:lvl5pPr>
            <a:lvl6pPr marL="2743200" lvl="5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sz="5120" b="1"/>
            </a:lvl6pPr>
            <a:lvl7pPr marL="3200400" lvl="6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sz="5120" b="1"/>
            </a:lvl7pPr>
            <a:lvl8pPr marL="3657600" lvl="7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sz="5120" b="1"/>
            </a:lvl8pPr>
            <a:lvl9pPr marL="4114800" lvl="8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sz="5120" b="1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2267431" y="8016240"/>
            <a:ext cx="13926024" cy="11790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3"/>
          </p:nvPr>
        </p:nvSpPr>
        <p:spPr>
          <a:xfrm>
            <a:off x="16664942" y="5379722"/>
            <a:ext cx="13994608" cy="2636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 b="1"/>
            </a:lvl1pPr>
            <a:lvl2pPr marL="914400" lvl="1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6400"/>
              <a:buNone/>
              <a:defRPr sz="6400" b="1"/>
            </a:lvl2pPr>
            <a:lvl3pPr marL="1371600" lvl="2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760"/>
              <a:buNone/>
              <a:defRPr sz="5760" b="1"/>
            </a:lvl3pPr>
            <a:lvl4pPr marL="1828800" lvl="3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sz="5120" b="1"/>
            </a:lvl4pPr>
            <a:lvl5pPr marL="2286000" lvl="4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sz="5120" b="1"/>
            </a:lvl5pPr>
            <a:lvl6pPr marL="2743200" lvl="5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sz="5120" b="1"/>
            </a:lvl6pPr>
            <a:lvl7pPr marL="3200400" lvl="6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sz="5120" b="1"/>
            </a:lvl7pPr>
            <a:lvl8pPr marL="3657600" lvl="7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sz="5120" b="1"/>
            </a:lvl8pPr>
            <a:lvl9pPr marL="4114800" lvl="8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sz="5120" b="1"/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body" idx="4"/>
          </p:nvPr>
        </p:nvSpPr>
        <p:spPr>
          <a:xfrm>
            <a:off x="16664942" y="8016240"/>
            <a:ext cx="13994608" cy="11790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dt" idx="10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7" name="Google Shape;47;p9"/>
          <p:cNvSpPr txBox="1">
            <a:spLocks noGrp="1"/>
          </p:cNvSpPr>
          <p:nvPr>
            <p:ph type="ftr" idx="11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title"/>
          </p:nvPr>
        </p:nvSpPr>
        <p:spPr>
          <a:xfrm>
            <a:off x="2263140" y="1168405"/>
            <a:ext cx="28392120" cy="4241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dt" idx="10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2" name="Google Shape;52;p10"/>
          <p:cNvSpPr txBox="1">
            <a:spLocks noGrp="1"/>
          </p:cNvSpPr>
          <p:nvPr>
            <p:ph type="ftr" idx="11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3" name="Google Shape;53;p10"/>
          <p:cNvSpPr txBox="1">
            <a:spLocks noGrp="1"/>
          </p:cNvSpPr>
          <p:nvPr>
            <p:ph type="sldNum" idx="12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>
            <a:spLocks noGrp="1"/>
          </p:cNvSpPr>
          <p:nvPr>
            <p:ph type="title"/>
          </p:nvPr>
        </p:nvSpPr>
        <p:spPr>
          <a:xfrm>
            <a:off x="2267428" y="1463040"/>
            <a:ext cx="10617041" cy="5120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40"/>
              <a:buFont typeface="Calibri"/>
              <a:buNone/>
              <a:defRPr sz="1024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body" idx="1"/>
          </p:nvPr>
        </p:nvSpPr>
        <p:spPr>
          <a:xfrm>
            <a:off x="13994608" y="3159765"/>
            <a:ext cx="16664940" cy="155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878839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0240"/>
              <a:buChar char="•"/>
              <a:defRPr sz="10240"/>
            </a:lvl1pPr>
            <a:lvl2pPr marL="914400" lvl="1" indent="-79756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8960"/>
              <a:buChar char="•"/>
              <a:defRPr sz="8960"/>
            </a:lvl2pPr>
            <a:lvl3pPr marL="1371600" lvl="2" indent="-71628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680"/>
              <a:buChar char="•"/>
              <a:defRPr sz="7680"/>
            </a:lvl3pPr>
            <a:lvl4pPr marL="1828800" lvl="3" indent="-635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6400"/>
              <a:buChar char="•"/>
              <a:defRPr sz="6400"/>
            </a:lvl4pPr>
            <a:lvl5pPr marL="2286000" lvl="4" indent="-635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6400"/>
              <a:buChar char="•"/>
              <a:defRPr sz="6400"/>
            </a:lvl5pPr>
            <a:lvl6pPr marL="2743200" lvl="5" indent="-635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6400"/>
              <a:buChar char="•"/>
              <a:defRPr sz="6400"/>
            </a:lvl6pPr>
            <a:lvl7pPr marL="3200400" lvl="6" indent="-635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6400"/>
              <a:buChar char="•"/>
              <a:defRPr sz="6400"/>
            </a:lvl7pPr>
            <a:lvl8pPr marL="3657600" lvl="7" indent="-635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6400"/>
              <a:buChar char="•"/>
              <a:defRPr sz="6400"/>
            </a:lvl8pPr>
            <a:lvl9pPr marL="4114800" lvl="8" indent="-635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6400"/>
              <a:buChar char="•"/>
              <a:defRPr sz="6400"/>
            </a:lvl9pPr>
          </a:lstStyle>
          <a:p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body" idx="2"/>
          </p:nvPr>
        </p:nvSpPr>
        <p:spPr>
          <a:xfrm>
            <a:off x="2267428" y="6583680"/>
            <a:ext cx="10617041" cy="12197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sz="5120"/>
            </a:lvl1pPr>
            <a:lvl2pPr marL="914400" lvl="1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480"/>
              <a:buNone/>
              <a:defRPr sz="4480"/>
            </a:lvl2pPr>
            <a:lvl3pPr marL="1371600" lvl="2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840"/>
              <a:buNone/>
              <a:defRPr sz="3840"/>
            </a:lvl3pPr>
            <a:lvl4pPr marL="1828800" lvl="3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4pPr>
            <a:lvl5pPr marL="2286000" lvl="4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5pPr>
            <a:lvl6pPr marL="2743200" lvl="5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6pPr>
            <a:lvl7pPr marL="3200400" lvl="6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7pPr>
            <a:lvl8pPr marL="3657600" lvl="7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8pPr>
            <a:lvl9pPr marL="4114800" lvl="8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58" name="Google Shape;58;p11"/>
          <p:cNvSpPr txBox="1">
            <a:spLocks noGrp="1"/>
          </p:cNvSpPr>
          <p:nvPr>
            <p:ph type="dt" idx="10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9" name="Google Shape;59;p11"/>
          <p:cNvSpPr txBox="1">
            <a:spLocks noGrp="1"/>
          </p:cNvSpPr>
          <p:nvPr>
            <p:ph type="ftr" idx="11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0" name="Google Shape;60;p11"/>
          <p:cNvSpPr txBox="1">
            <a:spLocks noGrp="1"/>
          </p:cNvSpPr>
          <p:nvPr>
            <p:ph type="sldNum" idx="12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>
            <a:spLocks noGrp="1"/>
          </p:cNvSpPr>
          <p:nvPr>
            <p:ph type="title"/>
          </p:nvPr>
        </p:nvSpPr>
        <p:spPr>
          <a:xfrm>
            <a:off x="2267428" y="1463040"/>
            <a:ext cx="10617041" cy="5120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40"/>
              <a:buFont typeface="Calibri"/>
              <a:buNone/>
              <a:defRPr sz="1024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2"/>
          <p:cNvSpPr>
            <a:spLocks noGrp="1"/>
          </p:cNvSpPr>
          <p:nvPr>
            <p:ph type="pic" idx="2"/>
          </p:nvPr>
        </p:nvSpPr>
        <p:spPr>
          <a:xfrm>
            <a:off x="13994608" y="3159765"/>
            <a:ext cx="16664940" cy="155956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2"/>
          <p:cNvSpPr txBox="1">
            <a:spLocks noGrp="1"/>
          </p:cNvSpPr>
          <p:nvPr>
            <p:ph type="body" idx="1"/>
          </p:nvPr>
        </p:nvSpPr>
        <p:spPr>
          <a:xfrm>
            <a:off x="2267428" y="6583680"/>
            <a:ext cx="10617041" cy="12197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sz="5120"/>
            </a:lvl1pPr>
            <a:lvl2pPr marL="914400" lvl="1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480"/>
              <a:buNone/>
              <a:defRPr sz="4480"/>
            </a:lvl2pPr>
            <a:lvl3pPr marL="1371600" lvl="2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840"/>
              <a:buNone/>
              <a:defRPr sz="3840"/>
            </a:lvl3pPr>
            <a:lvl4pPr marL="1828800" lvl="3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4pPr>
            <a:lvl5pPr marL="2286000" lvl="4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5pPr>
            <a:lvl6pPr marL="2743200" lvl="5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6pPr>
            <a:lvl7pPr marL="3200400" lvl="6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7pPr>
            <a:lvl8pPr marL="3657600" lvl="7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8pPr>
            <a:lvl9pPr marL="4114800" lvl="8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65" name="Google Shape;65;p12"/>
          <p:cNvSpPr txBox="1">
            <a:spLocks noGrp="1"/>
          </p:cNvSpPr>
          <p:nvPr>
            <p:ph type="dt" idx="10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6" name="Google Shape;66;p12"/>
          <p:cNvSpPr txBox="1">
            <a:spLocks noGrp="1"/>
          </p:cNvSpPr>
          <p:nvPr>
            <p:ph type="ftr" idx="11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7" name="Google Shape;67;p12"/>
          <p:cNvSpPr txBox="1">
            <a:spLocks noGrp="1"/>
          </p:cNvSpPr>
          <p:nvPr>
            <p:ph type="sldNum" idx="12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>
            <a:spLocks noGrp="1"/>
          </p:cNvSpPr>
          <p:nvPr>
            <p:ph type="title"/>
          </p:nvPr>
        </p:nvSpPr>
        <p:spPr>
          <a:xfrm>
            <a:off x="2263140" y="1168405"/>
            <a:ext cx="28392120" cy="4241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body" idx="1"/>
          </p:nvPr>
        </p:nvSpPr>
        <p:spPr>
          <a:xfrm rot="5400000">
            <a:off x="9497059" y="-1391919"/>
            <a:ext cx="13924282" cy="2839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dt" idx="10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2" name="Google Shape;72;p13"/>
          <p:cNvSpPr txBox="1">
            <a:spLocks noGrp="1"/>
          </p:cNvSpPr>
          <p:nvPr>
            <p:ph type="ftr" idx="11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3" name="Google Shape;73;p13"/>
          <p:cNvSpPr txBox="1">
            <a:spLocks noGrp="1"/>
          </p:cNvSpPr>
          <p:nvPr>
            <p:ph type="sldNum" idx="12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>
            <a:spLocks noGrp="1"/>
          </p:cNvSpPr>
          <p:nvPr>
            <p:ph type="title"/>
          </p:nvPr>
        </p:nvSpPr>
        <p:spPr>
          <a:xfrm rot="5400000">
            <a:off x="17807306" y="6918326"/>
            <a:ext cx="18597882" cy="7098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4"/>
          <p:cNvSpPr txBox="1">
            <a:spLocks noGrp="1"/>
          </p:cNvSpPr>
          <p:nvPr>
            <p:ph type="body" idx="1"/>
          </p:nvPr>
        </p:nvSpPr>
        <p:spPr>
          <a:xfrm rot="5400000">
            <a:off x="3405506" y="26036"/>
            <a:ext cx="18597882" cy="20882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4"/>
          <p:cNvSpPr txBox="1">
            <a:spLocks noGrp="1"/>
          </p:cNvSpPr>
          <p:nvPr>
            <p:ph type="dt" idx="10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8" name="Google Shape;78;p14"/>
          <p:cNvSpPr txBox="1">
            <a:spLocks noGrp="1"/>
          </p:cNvSpPr>
          <p:nvPr>
            <p:ph type="ftr" idx="11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9" name="Google Shape;79;p14"/>
          <p:cNvSpPr txBox="1">
            <a:spLocks noGrp="1"/>
          </p:cNvSpPr>
          <p:nvPr>
            <p:ph type="sldNum" idx="12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>
            <a:spLocks noGrp="1"/>
          </p:cNvSpPr>
          <p:nvPr>
            <p:ph type="title"/>
          </p:nvPr>
        </p:nvSpPr>
        <p:spPr>
          <a:xfrm>
            <a:off x="2263140" y="1168405"/>
            <a:ext cx="28392120" cy="4241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80"/>
              <a:buFont typeface="Calibri"/>
              <a:buNone/>
              <a:defRPr sz="1408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3"/>
          <p:cNvSpPr txBox="1">
            <a:spLocks noGrp="1"/>
          </p:cNvSpPr>
          <p:nvPr>
            <p:ph type="body" idx="1"/>
          </p:nvPr>
        </p:nvSpPr>
        <p:spPr>
          <a:xfrm>
            <a:off x="2263140" y="5842000"/>
            <a:ext cx="28392120" cy="13924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797560" algn="l" rtl="0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8960"/>
              <a:buFont typeface="Arial"/>
              <a:buChar char="•"/>
              <a:defRPr sz="8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71628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680"/>
              <a:buFont typeface="Arial"/>
              <a:buChar char="•"/>
              <a:defRPr sz="768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6350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Arial"/>
              <a:buChar char="•"/>
              <a:defRPr sz="6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59436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760"/>
              <a:buFont typeface="Arial"/>
              <a:buChar char="•"/>
              <a:defRPr sz="57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59436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760"/>
              <a:buFont typeface="Arial"/>
              <a:buChar char="•"/>
              <a:defRPr sz="57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59436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760"/>
              <a:buFont typeface="Arial"/>
              <a:buChar char="•"/>
              <a:defRPr sz="57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59436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760"/>
              <a:buFont typeface="Arial"/>
              <a:buChar char="•"/>
              <a:defRPr sz="57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59436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760"/>
              <a:buFont typeface="Arial"/>
              <a:buChar char="•"/>
              <a:defRPr sz="57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594359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760"/>
              <a:buFont typeface="Arial"/>
              <a:buChar char="•"/>
              <a:defRPr sz="57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3"/>
          <p:cNvSpPr txBox="1">
            <a:spLocks noGrp="1"/>
          </p:cNvSpPr>
          <p:nvPr>
            <p:ph type="dt" idx="10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9" name="Google Shape;9;p3"/>
          <p:cNvSpPr txBox="1">
            <a:spLocks noGrp="1"/>
          </p:cNvSpPr>
          <p:nvPr>
            <p:ph type="ftr" idx="11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0" name="Google Shape;10;p3"/>
          <p:cNvSpPr txBox="1">
            <a:spLocks noGrp="1"/>
          </p:cNvSpPr>
          <p:nvPr>
            <p:ph type="sldNum" idx="12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98;p1">
            <a:extLst>
              <a:ext uri="{FF2B5EF4-FFF2-40B4-BE49-F238E27FC236}">
                <a16:creationId xmlns:a16="http://schemas.microsoft.com/office/drawing/2014/main" id="{F2CE869B-5C1A-600C-CC75-D762383B1609}"/>
              </a:ext>
            </a:extLst>
          </p:cNvPr>
          <p:cNvSpPr/>
          <p:nvPr/>
        </p:nvSpPr>
        <p:spPr>
          <a:xfrm>
            <a:off x="24943442" y="17637823"/>
            <a:ext cx="7892636" cy="4302563"/>
          </a:xfrm>
          <a:prstGeom prst="roundRect">
            <a:avLst>
              <a:gd name="adj" fmla="val 6748"/>
            </a:avLst>
          </a:prstGeom>
          <a:solidFill>
            <a:srgbClr val="ACB8C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endParaRPr sz="66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84" name="Google Shape;84;p1"/>
          <p:cNvSpPr/>
          <p:nvPr/>
        </p:nvSpPr>
        <p:spPr>
          <a:xfrm>
            <a:off x="24925582" y="4755575"/>
            <a:ext cx="7845836" cy="12806553"/>
          </a:xfrm>
          <a:prstGeom prst="roundRect">
            <a:avLst>
              <a:gd name="adj" fmla="val 1458"/>
            </a:avLst>
          </a:prstGeom>
          <a:solidFill>
            <a:srgbClr val="D5DB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</a:pPr>
            <a:endParaRPr sz="64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23891" y="376839"/>
            <a:ext cx="32918400" cy="4168200"/>
          </a:xfrm>
          <a:prstGeom prst="rect">
            <a:avLst/>
          </a:prstGeom>
          <a:solidFill>
            <a:srgbClr val="D5DBE5"/>
          </a:solidFill>
          <a:ln>
            <a:noFill/>
          </a:ln>
        </p:spPr>
        <p:txBody>
          <a:bodyPr spcFirstLastPara="1" wrap="square" lIns="85325" tIns="42650" rIns="85325" bIns="426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42"/>
              <a:buFont typeface="Arial"/>
              <a:buNone/>
            </a:pPr>
            <a:endParaRPr sz="4142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3132538" y="899474"/>
            <a:ext cx="27432000" cy="1831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325" tIns="42650" rIns="85325" bIns="426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Montserrat ExtraBold"/>
              <a:buNone/>
            </a:pPr>
            <a:r>
              <a:rPr lang="en-US" sz="57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Montserrat ExtraBold"/>
                <a:cs typeface="Times New Roman" panose="02020603050405020304" pitchFamily="18" charset="0"/>
                <a:sym typeface="Montserrat ExtraBold"/>
              </a:rPr>
              <a:t>Temporal and linguistic properties of infant-parent communication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Montserrat ExtraBold"/>
              <a:buNone/>
            </a:pPr>
            <a:r>
              <a:rPr lang="en-US" sz="57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Montserrat ExtraBold"/>
                <a:cs typeface="Times New Roman" panose="02020603050405020304" pitchFamily="18" charset="0"/>
                <a:sym typeface="Montserrat ExtraBold"/>
              </a:rPr>
              <a:t>in the home environment</a:t>
            </a:r>
            <a:endParaRPr sz="1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-220174" y="3235541"/>
            <a:ext cx="29199900" cy="13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57900" tIns="42650" rIns="85325" bIns="426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</a:pPr>
            <a:r>
              <a:rPr lang="en-US" sz="37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Domine"/>
                <a:cs typeface="Times New Roman" panose="02020603050405020304" pitchFamily="18" charset="0"/>
                <a:sym typeface="Domine"/>
              </a:rPr>
              <a:t>Austin Himebaugh, AJ Humbert, Angelena Lara, Sara Benham, Elizabeth Clerkin, &amp; Linda B. Smith</a:t>
            </a:r>
            <a:endParaRPr sz="1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</a:pPr>
            <a:r>
              <a:rPr lang="en-US" sz="37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Domine"/>
                <a:cs typeface="Times New Roman" panose="02020603050405020304" pitchFamily="18" charset="0"/>
                <a:sym typeface="Domine"/>
              </a:rPr>
              <a:t>Indiana University, Department of Psychological &amp; Brain Sciences </a:t>
            </a:r>
            <a:endParaRPr sz="1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25070898" y="20466229"/>
            <a:ext cx="6874704" cy="1600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sng" strike="noStrike" cap="none" dirty="0">
                <a:solidFill>
                  <a:srgbClr val="3F3F3F"/>
                </a:solidFill>
                <a:latin typeface="Times New Roman" panose="02020603050405020304" pitchFamily="18" charset="0"/>
                <a:ea typeface="Montserrat ExtraBold"/>
                <a:cs typeface="Times New Roman" panose="02020603050405020304" pitchFamily="18" charset="0"/>
                <a:sym typeface="Montserrat ExtraBold"/>
              </a:rPr>
              <a:t>Acknowledgements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>National Science Foundation Grant BCS-15233982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>NIH Grant R01HD 074601; 028675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>T32 NICHD HD007475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24971898" y="5478370"/>
            <a:ext cx="7072800" cy="5478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rgbClr val="595959"/>
              </a:buClr>
              <a:buSzPts val="3400"/>
            </a:pPr>
            <a:r>
              <a:rPr lang="en-US" sz="2400" b="1" i="0" u="none" strike="noStrike" cap="none" dirty="0">
                <a:solidFill>
                  <a:srgbClr val="595959"/>
                </a:solidFill>
                <a:latin typeface="Times New Roman" panose="02020603050405020304" pitchFamily="18" charset="0"/>
                <a:ea typeface="Domine"/>
                <a:cs typeface="Times New Roman" panose="02020603050405020304" pitchFamily="18" charset="0"/>
                <a:sym typeface="Domine"/>
              </a:rPr>
              <a:t>Question 1: </a:t>
            </a:r>
            <a:endParaRPr lang="en-US" sz="2400" b="1" dirty="0">
              <a:solidFill>
                <a:srgbClr val="595959"/>
              </a:solidFill>
              <a:latin typeface="Times New Roman" panose="02020603050405020304" pitchFamily="18" charset="0"/>
              <a:ea typeface="Domine"/>
              <a:cs typeface="Times New Roman" panose="02020603050405020304" pitchFamily="18" charset="0"/>
              <a:sym typeface="Domine"/>
            </a:endParaRPr>
          </a:p>
          <a:p>
            <a:pPr marL="419100" indent="-342900">
              <a:buClr>
                <a:srgbClr val="595959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Domine"/>
              </a:rPr>
              <a:t>Infants vocalized 5.06% of the time</a:t>
            </a:r>
          </a:p>
          <a:p>
            <a:pPr>
              <a:buClr>
                <a:srgbClr val="595959"/>
              </a:buClr>
              <a:buSzPts val="3400"/>
            </a:pPr>
            <a:r>
              <a:rPr lang="en-US" sz="2400" b="1" i="0" u="none" strike="noStrike" cap="none" dirty="0">
                <a:solidFill>
                  <a:srgbClr val="595959"/>
                </a:solidFill>
                <a:latin typeface="Times New Roman" panose="02020603050405020304" pitchFamily="18" charset="0"/>
                <a:ea typeface="Domine"/>
                <a:cs typeface="Times New Roman" panose="02020603050405020304" pitchFamily="18" charset="0"/>
                <a:sym typeface="Domine"/>
              </a:rPr>
              <a:t>Question 2:</a:t>
            </a:r>
            <a:endParaRPr lang="en-US" sz="2400" b="1" dirty="0">
              <a:solidFill>
                <a:srgbClr val="595959"/>
              </a:solidFill>
              <a:latin typeface="Times New Roman" panose="02020603050405020304" pitchFamily="18" charset="0"/>
              <a:ea typeface="Domine"/>
              <a:cs typeface="Times New Roman" panose="02020603050405020304" pitchFamily="18" charset="0"/>
              <a:sym typeface="Domine"/>
            </a:endParaRPr>
          </a:p>
          <a:p>
            <a:pPr marL="419100" indent="-342900">
              <a:buClr>
                <a:srgbClr val="595959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b="0" i="0" u="none" strike="noStrike" cap="none" dirty="0">
                <a:solidFill>
                  <a:srgbClr val="595959"/>
                </a:solidFill>
                <a:latin typeface="Times New Roman" panose="02020603050405020304" pitchFamily="18" charset="0"/>
                <a:ea typeface="Domine"/>
                <a:cs typeface="Times New Roman" panose="02020603050405020304" pitchFamily="18" charset="0"/>
                <a:sym typeface="Domine"/>
              </a:rPr>
              <a:t>Parents responded to infant vocalizations 42.87% of the time</a:t>
            </a:r>
            <a:endParaRPr lang="en-US" sz="2400" dirty="0">
              <a:solidFill>
                <a:srgbClr val="595959"/>
              </a:solidFill>
              <a:latin typeface="Times New Roman" panose="02020603050405020304" pitchFamily="18" charset="0"/>
              <a:ea typeface="Domine"/>
              <a:cs typeface="Times New Roman" panose="02020603050405020304" pitchFamily="18" charset="0"/>
              <a:sym typeface="Domine"/>
            </a:endParaRPr>
          </a:p>
          <a:p>
            <a:pPr>
              <a:buClr>
                <a:srgbClr val="595959"/>
              </a:buClr>
              <a:buSzPts val="2400"/>
            </a:pPr>
            <a:r>
              <a:rPr lang="en-US" sz="2400" b="1" dirty="0">
                <a:solidFill>
                  <a:srgbClr val="595959"/>
                </a:solidFill>
                <a:latin typeface="Times New Roman" panose="02020603050405020304" pitchFamily="18" charset="0"/>
                <a:ea typeface="Domine"/>
                <a:cs typeface="Times New Roman" panose="02020603050405020304" pitchFamily="18" charset="0"/>
                <a:sym typeface="Domine"/>
              </a:rPr>
              <a:t>Question 3:</a:t>
            </a:r>
          </a:p>
          <a:p>
            <a:pPr marL="419100" indent="-342900">
              <a:buClr>
                <a:srgbClr val="595959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595959"/>
                </a:solidFill>
                <a:latin typeface="Times New Roman" panose="02020603050405020304" pitchFamily="18" charset="0"/>
                <a:ea typeface="Domine"/>
                <a:cs typeface="Times New Roman" panose="02020603050405020304" pitchFamily="18" charset="0"/>
                <a:sym typeface="Domine"/>
              </a:rPr>
              <a:t>Shorter response time as duration gets longer</a:t>
            </a:r>
            <a:endParaRPr sz="2400" dirty="0">
              <a:solidFill>
                <a:srgbClr val="595959"/>
              </a:solidFill>
              <a:latin typeface="Times New Roman" panose="02020603050405020304" pitchFamily="18" charset="0"/>
              <a:ea typeface="Domine"/>
              <a:cs typeface="Times New Roman" panose="02020603050405020304" pitchFamily="18" charset="0"/>
              <a:sym typeface="Domine"/>
            </a:endParaRPr>
          </a:p>
          <a:p>
            <a:pPr>
              <a:buClr>
                <a:srgbClr val="595959"/>
              </a:buClr>
              <a:buSzPts val="2400"/>
            </a:pPr>
            <a:r>
              <a:rPr lang="en-US" sz="2400" b="1" i="0" u="none" strike="noStrike" cap="none" dirty="0">
                <a:solidFill>
                  <a:srgbClr val="595959"/>
                </a:solidFill>
                <a:latin typeface="Times New Roman" panose="02020603050405020304" pitchFamily="18" charset="0"/>
                <a:ea typeface="Domine"/>
                <a:cs typeface="Times New Roman" panose="02020603050405020304" pitchFamily="18" charset="0"/>
                <a:sym typeface="Domine"/>
              </a:rPr>
              <a:t>Question 4:</a:t>
            </a:r>
            <a:endParaRPr lang="en-US" sz="2400" b="1" dirty="0">
              <a:solidFill>
                <a:srgbClr val="595959"/>
              </a:solidFill>
              <a:latin typeface="Times New Roman" panose="02020603050405020304" pitchFamily="18" charset="0"/>
              <a:ea typeface="Domine"/>
              <a:cs typeface="Times New Roman" panose="02020603050405020304" pitchFamily="18" charset="0"/>
              <a:sym typeface="Domine"/>
            </a:endParaRPr>
          </a:p>
          <a:p>
            <a:pPr marL="342900" indent="-342900">
              <a:buClr>
                <a:srgbClr val="595959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b="0" i="0" u="none" strike="noStrike" cap="none" dirty="0">
                <a:solidFill>
                  <a:srgbClr val="595959"/>
                </a:solidFill>
                <a:latin typeface="Times New Roman" panose="02020603050405020304" pitchFamily="18" charset="0"/>
                <a:ea typeface="Domine"/>
                <a:cs typeface="Times New Roman" panose="02020603050405020304" pitchFamily="18" charset="0"/>
                <a:sym typeface="Domine"/>
              </a:rPr>
              <a:t>Parental responses contain a noun 18.98% of the time. </a:t>
            </a:r>
          </a:p>
          <a:p>
            <a:pPr marL="342900" indent="-342900">
              <a:buClr>
                <a:srgbClr val="595959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b="0" i="0" u="none" strike="noStrike" cap="none" dirty="0">
                <a:solidFill>
                  <a:srgbClr val="595959"/>
                </a:solidFill>
                <a:latin typeface="Times New Roman" panose="02020603050405020304" pitchFamily="18" charset="0"/>
                <a:ea typeface="Domine"/>
                <a:cs typeface="Times New Roman" panose="02020603050405020304" pitchFamily="18" charset="0"/>
                <a:sym typeface="Domine"/>
              </a:rPr>
              <a:t>Most labeling occurs in relation to food &amp; drink. There’s significant repetition of words, but also diversity in the number of semantic categories infants hear.</a:t>
            </a:r>
            <a:endParaRPr sz="2400" b="0" i="0" u="none" strike="noStrike" cap="none" dirty="0">
              <a:solidFill>
                <a:srgbClr val="595959"/>
              </a:solidFill>
              <a:latin typeface="Times New Roman" panose="02020603050405020304" pitchFamily="18" charset="0"/>
              <a:ea typeface="Domine"/>
              <a:cs typeface="Times New Roman" panose="02020603050405020304" pitchFamily="18" charset="0"/>
              <a:sym typeface="Domin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24971994" y="4831271"/>
            <a:ext cx="6874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sng" strike="noStrike" cap="none" dirty="0">
                <a:solidFill>
                  <a:srgbClr val="3F3F3F"/>
                </a:solidFill>
                <a:latin typeface="Times New Roman" panose="02020603050405020304" pitchFamily="18" charset="0"/>
                <a:ea typeface="Montserrat ExtraBold"/>
                <a:cs typeface="Times New Roman" panose="02020603050405020304" pitchFamily="18" charset="0"/>
                <a:sym typeface="Montserrat ExtraBold"/>
              </a:rPr>
              <a:t>Summary</a:t>
            </a:r>
            <a:endParaRPr sz="1400" b="0" i="0" u="sng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25070898" y="17671674"/>
            <a:ext cx="68748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sng" strike="noStrike" cap="none" dirty="0">
                <a:solidFill>
                  <a:srgbClr val="3F3F3F"/>
                </a:solidFill>
                <a:latin typeface="Times New Roman" panose="02020603050405020304" pitchFamily="18" charset="0"/>
                <a:ea typeface="Montserrat ExtraBold"/>
                <a:cs typeface="Times New Roman" panose="02020603050405020304" pitchFamily="18" charset="0"/>
                <a:sym typeface="Montserrat ExtraBold"/>
              </a:rPr>
              <a:t>References</a:t>
            </a:r>
            <a:endParaRPr sz="1400" b="0" i="0" u="sng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146982" y="4783075"/>
            <a:ext cx="7562100" cy="10976100"/>
          </a:xfrm>
          <a:prstGeom prst="roundRect">
            <a:avLst>
              <a:gd name="adj" fmla="val 1458"/>
            </a:avLst>
          </a:prstGeom>
          <a:solidFill>
            <a:srgbClr val="D5DB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</a:pPr>
            <a:endParaRPr sz="64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244274" y="4773075"/>
            <a:ext cx="7473529" cy="11079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rgbClr val="595959"/>
              </a:solidFill>
              <a:latin typeface="Times New Roman" panose="02020603050405020304" pitchFamily="18" charset="0"/>
              <a:ea typeface="Domine"/>
              <a:cs typeface="Times New Roman" panose="02020603050405020304" pitchFamily="18" charset="0"/>
              <a:sym typeface="Domin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rgbClr val="595959"/>
              </a:solidFill>
              <a:latin typeface="Times New Roman" panose="02020603050405020304" pitchFamily="18" charset="0"/>
              <a:ea typeface="Domine"/>
              <a:cs typeface="Times New Roman" panose="02020603050405020304" pitchFamily="18" charset="0"/>
              <a:sym typeface="Domin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595959"/>
                </a:solidFill>
                <a:latin typeface="Times New Roman" panose="02020603050405020304" pitchFamily="18" charset="0"/>
                <a:ea typeface="Domine"/>
                <a:cs typeface="Times New Roman" panose="02020603050405020304" pitchFamily="18" charset="0"/>
                <a:sym typeface="Domine"/>
              </a:rPr>
              <a:t>Parents respond to </a:t>
            </a:r>
            <a:r>
              <a:rPr lang="en-US" sz="2400" dirty="0">
                <a:solidFill>
                  <a:srgbClr val="595959"/>
                </a:solidFill>
                <a:latin typeface="Times New Roman" panose="02020603050405020304" pitchFamily="18" charset="0"/>
                <a:ea typeface="Domine"/>
                <a:cs typeface="Times New Roman" panose="02020603050405020304" pitchFamily="18" charset="0"/>
                <a:sym typeface="Domine"/>
              </a:rPr>
              <a:t>infant communication in a variety of ways. Research suggests that the type of</a:t>
            </a:r>
            <a:r>
              <a:rPr lang="en-US" sz="2400" b="0" i="0" u="none" strike="noStrike" cap="none" dirty="0">
                <a:solidFill>
                  <a:srgbClr val="595959"/>
                </a:solidFill>
                <a:latin typeface="Times New Roman" panose="02020603050405020304" pitchFamily="18" charset="0"/>
                <a:ea typeface="Domine"/>
                <a:cs typeface="Times New Roman" panose="02020603050405020304" pitchFamily="18" charset="0"/>
                <a:sym typeface="Domine"/>
              </a:rPr>
              <a:t> input and </a:t>
            </a:r>
            <a:r>
              <a:rPr lang="en-US" sz="2400" dirty="0">
                <a:solidFill>
                  <a:srgbClr val="595959"/>
                </a:solidFill>
                <a:latin typeface="Times New Roman" panose="02020603050405020304" pitchFamily="18" charset="0"/>
                <a:ea typeface="Domine"/>
                <a:cs typeface="Times New Roman" panose="02020603050405020304" pitchFamily="18" charset="0"/>
                <a:sym typeface="Domine"/>
              </a:rPr>
              <a:t>temporal contingency</a:t>
            </a:r>
            <a:r>
              <a:rPr lang="en-US" sz="2400" b="0" i="0" u="none" strike="noStrike" cap="none" dirty="0">
                <a:solidFill>
                  <a:srgbClr val="595959"/>
                </a:solidFill>
                <a:latin typeface="Times New Roman" panose="02020603050405020304" pitchFamily="18" charset="0"/>
                <a:ea typeface="Domine"/>
                <a:cs typeface="Times New Roman" panose="02020603050405020304" pitchFamily="18" charset="0"/>
                <a:sym typeface="Domine"/>
              </a:rPr>
              <a:t> </a:t>
            </a:r>
            <a:r>
              <a:rPr lang="en-US" sz="2400" dirty="0">
                <a:solidFill>
                  <a:srgbClr val="595959"/>
                </a:solidFill>
                <a:latin typeface="Times New Roman" panose="02020603050405020304" pitchFamily="18" charset="0"/>
                <a:ea typeface="Domine"/>
                <a:cs typeface="Times New Roman" panose="02020603050405020304" pitchFamily="18" charset="0"/>
                <a:sym typeface="Domine"/>
              </a:rPr>
              <a:t>of the response lays critical </a:t>
            </a:r>
            <a:r>
              <a:rPr lang="en-US" sz="2400" b="0" i="0" u="none" strike="noStrike" cap="none" dirty="0">
                <a:solidFill>
                  <a:srgbClr val="595959"/>
                </a:solidFill>
                <a:latin typeface="Times New Roman" panose="02020603050405020304" pitchFamily="18" charset="0"/>
                <a:ea typeface="Domine"/>
                <a:cs typeface="Times New Roman" panose="02020603050405020304" pitchFamily="18" charset="0"/>
                <a:sym typeface="Domine"/>
              </a:rPr>
              <a:t>groundwork for language development and is directly linked to later vocabulary development (Tamis</a:t>
            </a:r>
            <a:r>
              <a:rPr lang="en-US" sz="2400" dirty="0">
                <a:solidFill>
                  <a:srgbClr val="595959"/>
                </a:solidFill>
                <a:latin typeface="Times New Roman" panose="02020603050405020304" pitchFamily="18" charset="0"/>
                <a:ea typeface="Domine"/>
                <a:cs typeface="Times New Roman" panose="02020603050405020304" pitchFamily="18" charset="0"/>
                <a:sym typeface="Domine"/>
              </a:rPr>
              <a:t>-LeMonda, Bornstein, Kahana-Kalman, Baumwell, &amp; Cyphers, 1998).</a:t>
            </a:r>
            <a:endParaRPr sz="2400" dirty="0">
              <a:solidFill>
                <a:srgbClr val="595959"/>
              </a:solidFill>
              <a:latin typeface="Times New Roman" panose="02020603050405020304" pitchFamily="18" charset="0"/>
              <a:ea typeface="Domine"/>
              <a:cs typeface="Times New Roman" panose="02020603050405020304" pitchFamily="18" charset="0"/>
              <a:sym typeface="Domin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595959"/>
                </a:solidFill>
                <a:latin typeface="Times New Roman" panose="02020603050405020304" pitchFamily="18" charset="0"/>
                <a:ea typeface="Domine"/>
                <a:cs typeface="Times New Roman" panose="02020603050405020304" pitchFamily="18" charset="0"/>
                <a:sym typeface="Domine"/>
              </a:rPr>
              <a:t>Infants change the quality (e.g., phonetic/phonological structure) of their vocalization based on the ver</a:t>
            </a:r>
            <a:r>
              <a:rPr lang="en-US" sz="2400" dirty="0">
                <a:solidFill>
                  <a:srgbClr val="595959"/>
                </a:solidFill>
                <a:latin typeface="Times New Roman" panose="02020603050405020304" pitchFamily="18" charset="0"/>
                <a:ea typeface="Domine"/>
                <a:cs typeface="Times New Roman" panose="02020603050405020304" pitchFamily="18" charset="0"/>
                <a:sym typeface="Domine"/>
              </a:rPr>
              <a:t>bal </a:t>
            </a:r>
            <a:r>
              <a:rPr lang="en-US" sz="2400" b="0" i="0" u="none" strike="noStrike" cap="none" dirty="0">
                <a:solidFill>
                  <a:srgbClr val="595959"/>
                </a:solidFill>
                <a:latin typeface="Times New Roman" panose="02020603050405020304" pitchFamily="18" charset="0"/>
                <a:ea typeface="Domine"/>
                <a:cs typeface="Times New Roman" panose="02020603050405020304" pitchFamily="18" charset="0"/>
                <a:sym typeface="Domine"/>
              </a:rPr>
              <a:t>response from the parent (Bloom et al., 1987; Goldstein &amp; Schwade, 2008), suggesting that the parent response may shape </a:t>
            </a:r>
            <a:r>
              <a:rPr lang="en-US" sz="2400" dirty="0">
                <a:solidFill>
                  <a:srgbClr val="595959"/>
                </a:solidFill>
                <a:latin typeface="Times New Roman" panose="02020603050405020304" pitchFamily="18" charset="0"/>
                <a:ea typeface="Domine"/>
                <a:cs typeface="Times New Roman" panose="02020603050405020304" pitchFamily="18" charset="0"/>
                <a:sym typeface="Domine"/>
              </a:rPr>
              <a:t>aspects of the vocalization.</a:t>
            </a:r>
            <a:endParaRPr sz="1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rgbClr val="595959"/>
              </a:solidFill>
              <a:latin typeface="Times New Roman" panose="02020603050405020304" pitchFamily="18" charset="0"/>
              <a:ea typeface="Domine"/>
              <a:cs typeface="Times New Roman" panose="02020603050405020304" pitchFamily="18" charset="0"/>
              <a:sym typeface="Domin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595959"/>
                </a:solidFill>
                <a:latin typeface="Times New Roman" panose="02020603050405020304" pitchFamily="18" charset="0"/>
                <a:ea typeface="Domine"/>
                <a:cs typeface="Times New Roman" panose="02020603050405020304" pitchFamily="18" charset="0"/>
                <a:sym typeface="Domine"/>
              </a:rPr>
              <a:t>Our objective is to characterize the </a:t>
            </a:r>
            <a:r>
              <a:rPr lang="en-US" sz="2400" dirty="0">
                <a:solidFill>
                  <a:srgbClr val="595959"/>
                </a:solidFill>
                <a:latin typeface="Times New Roman" panose="02020603050405020304" pitchFamily="18" charset="0"/>
                <a:ea typeface="Domine"/>
                <a:cs typeface="Times New Roman" panose="02020603050405020304" pitchFamily="18" charset="0"/>
                <a:sym typeface="Domine"/>
              </a:rPr>
              <a:t>temporal and linguistic properties of infant-parent communication in the </a:t>
            </a:r>
            <a:r>
              <a:rPr lang="en-US" sz="2400" b="1" dirty="0">
                <a:solidFill>
                  <a:srgbClr val="595959"/>
                </a:solidFill>
                <a:latin typeface="Times New Roman" panose="02020603050405020304" pitchFamily="18" charset="0"/>
                <a:ea typeface="Domine"/>
                <a:cs typeface="Times New Roman" panose="02020603050405020304" pitchFamily="18" charset="0"/>
                <a:sym typeface="Domine"/>
              </a:rPr>
              <a:t>home environment</a:t>
            </a:r>
            <a:r>
              <a:rPr lang="en-US" sz="2400" dirty="0">
                <a:solidFill>
                  <a:srgbClr val="595959"/>
                </a:solidFill>
                <a:latin typeface="Times New Roman" panose="02020603050405020304" pitchFamily="18" charset="0"/>
                <a:ea typeface="Domine"/>
                <a:cs typeface="Times New Roman" panose="02020603050405020304" pitchFamily="18" charset="0"/>
                <a:sym typeface="Domine"/>
              </a:rPr>
              <a:t>.</a:t>
            </a:r>
            <a:endParaRPr sz="2400" b="0" i="0" u="none" strike="noStrike" cap="none" dirty="0">
              <a:solidFill>
                <a:srgbClr val="595959"/>
              </a:solidFill>
              <a:latin typeface="Times New Roman" panose="02020603050405020304" pitchFamily="18" charset="0"/>
              <a:ea typeface="Domine"/>
              <a:cs typeface="Times New Roman" panose="02020603050405020304" pitchFamily="18" charset="0"/>
              <a:sym typeface="Domin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dirty="0">
              <a:solidFill>
                <a:srgbClr val="595959"/>
              </a:solidFill>
              <a:latin typeface="Times New Roman" panose="02020603050405020304" pitchFamily="18" charset="0"/>
              <a:ea typeface="Domine"/>
              <a:cs typeface="Times New Roman" panose="02020603050405020304" pitchFamily="18" charset="0"/>
              <a:sym typeface="Domin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u="sng" dirty="0">
                <a:solidFill>
                  <a:srgbClr val="595959"/>
                </a:solidFill>
                <a:latin typeface="Times New Roman" panose="02020603050405020304" pitchFamily="18" charset="0"/>
                <a:ea typeface="Domine"/>
                <a:cs typeface="Times New Roman" panose="02020603050405020304" pitchFamily="18" charset="0"/>
                <a:sym typeface="Domine"/>
              </a:rPr>
              <a:t>Research Questions:</a:t>
            </a:r>
            <a:endParaRPr sz="2400" b="1" u="sng" dirty="0">
              <a:solidFill>
                <a:srgbClr val="595959"/>
              </a:solidFill>
              <a:latin typeface="Times New Roman" panose="02020603050405020304" pitchFamily="18" charset="0"/>
              <a:ea typeface="Domine"/>
              <a:cs typeface="Times New Roman" panose="02020603050405020304" pitchFamily="18" charset="0"/>
              <a:sym typeface="Domin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rgbClr val="595959"/>
              </a:solidFill>
              <a:latin typeface="Times New Roman" panose="02020603050405020304" pitchFamily="18" charset="0"/>
              <a:ea typeface="Domine"/>
              <a:cs typeface="Times New Roman" panose="02020603050405020304" pitchFamily="18" charset="0"/>
              <a:sym typeface="Domin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595959"/>
                </a:solidFill>
                <a:latin typeface="Times New Roman" panose="02020603050405020304" pitchFamily="18" charset="0"/>
                <a:ea typeface="Domine"/>
                <a:cs typeface="Times New Roman" panose="02020603050405020304" pitchFamily="18" charset="0"/>
                <a:sym typeface="Domine"/>
              </a:rPr>
              <a:t>1. How often do infants vocalize</a:t>
            </a:r>
            <a:r>
              <a:rPr lang="en-US" sz="2400" dirty="0">
                <a:solidFill>
                  <a:srgbClr val="595959"/>
                </a:solidFill>
                <a:latin typeface="Times New Roman" panose="02020603050405020304" pitchFamily="18" charset="0"/>
                <a:ea typeface="Domine"/>
                <a:cs typeface="Times New Roman" panose="02020603050405020304" pitchFamily="18" charset="0"/>
                <a:sym typeface="Domine"/>
              </a:rPr>
              <a:t>?</a:t>
            </a:r>
            <a:endParaRPr sz="1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595959"/>
                </a:solidFill>
                <a:latin typeface="Times New Roman" panose="02020603050405020304" pitchFamily="18" charset="0"/>
                <a:ea typeface="Domine"/>
                <a:cs typeface="Times New Roman" panose="02020603050405020304" pitchFamily="18" charset="0"/>
                <a:sym typeface="Domine"/>
              </a:rPr>
              <a:t>2. How often parents respond</a:t>
            </a:r>
            <a:r>
              <a:rPr lang="en-US" sz="2400" dirty="0">
                <a:solidFill>
                  <a:srgbClr val="595959"/>
                </a:solidFill>
                <a:latin typeface="Times New Roman" panose="02020603050405020304" pitchFamily="18" charset="0"/>
                <a:ea typeface="Domine"/>
                <a:cs typeface="Times New Roman" panose="02020603050405020304" pitchFamily="18" charset="0"/>
                <a:sym typeface="Domine"/>
              </a:rPr>
              <a:t>?</a:t>
            </a:r>
            <a:endParaRPr sz="1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595959"/>
                </a:solidFill>
                <a:latin typeface="Times New Roman" panose="02020603050405020304" pitchFamily="18" charset="0"/>
                <a:ea typeface="Domine"/>
                <a:cs typeface="Times New Roman" panose="02020603050405020304" pitchFamily="18" charset="0"/>
                <a:sym typeface="Domine"/>
              </a:rPr>
              <a:t>3. Does the length of an infant vocalization affect parental response time?</a:t>
            </a:r>
            <a:endParaRPr sz="1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595959"/>
                </a:solidFill>
                <a:latin typeface="Times New Roman" panose="02020603050405020304" pitchFamily="18" charset="0"/>
                <a:ea typeface="Domine"/>
                <a:cs typeface="Times New Roman" panose="02020603050405020304" pitchFamily="18" charset="0"/>
                <a:sym typeface="Domine"/>
              </a:rPr>
              <a:t>4. When parents respond to the infant vocalization, </a:t>
            </a:r>
            <a:r>
              <a:rPr lang="en-US" sz="2400" dirty="0">
                <a:solidFill>
                  <a:srgbClr val="595959"/>
                </a:solidFill>
                <a:latin typeface="Times New Roman" panose="02020603050405020304" pitchFamily="18" charset="0"/>
                <a:ea typeface="Domine"/>
                <a:cs typeface="Times New Roman" panose="02020603050405020304" pitchFamily="18" charset="0"/>
                <a:sym typeface="Domine"/>
              </a:rPr>
              <a:t>how often do they label objects</a:t>
            </a:r>
            <a:r>
              <a:rPr lang="en-US" sz="2400" b="0" i="0" u="none" strike="noStrike" cap="none" dirty="0">
                <a:solidFill>
                  <a:srgbClr val="595959"/>
                </a:solidFill>
                <a:latin typeface="Times New Roman" panose="02020603050405020304" pitchFamily="18" charset="0"/>
                <a:ea typeface="Domine"/>
                <a:cs typeface="Times New Roman" panose="02020603050405020304" pitchFamily="18" charset="0"/>
                <a:sym typeface="Domine"/>
              </a:rPr>
              <a:t>?</a:t>
            </a:r>
            <a:endParaRPr sz="1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2857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rgbClr val="595959"/>
              </a:solidFill>
              <a:latin typeface="Times New Roman" panose="02020603050405020304" pitchFamily="18" charset="0"/>
              <a:ea typeface="Domine"/>
              <a:cs typeface="Times New Roman" panose="02020603050405020304" pitchFamily="18" charset="0"/>
              <a:sym typeface="Domine"/>
            </a:endParaRPr>
          </a:p>
          <a:p>
            <a:pPr marL="2857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rgbClr val="595959"/>
              </a:solidFill>
              <a:latin typeface="Times New Roman" panose="02020603050405020304" pitchFamily="18" charset="0"/>
              <a:ea typeface="Domine"/>
              <a:cs typeface="Times New Roman" panose="02020603050405020304" pitchFamily="18" charset="0"/>
              <a:sym typeface="Domine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210773" y="4921480"/>
            <a:ext cx="6874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sng" strike="noStrike" cap="none" dirty="0">
                <a:solidFill>
                  <a:srgbClr val="3F3F3F"/>
                </a:solidFill>
                <a:latin typeface="Times New Roman" panose="02020603050405020304" pitchFamily="18" charset="0"/>
                <a:ea typeface="Montserrat ExtraBold"/>
                <a:cs typeface="Times New Roman" panose="02020603050405020304" pitchFamily="18" charset="0"/>
                <a:sym typeface="Montserrat ExtraBold"/>
              </a:rPr>
              <a:t>Introduction</a:t>
            </a:r>
            <a:endParaRPr sz="1400" b="0" i="0" u="sng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98" name="Google Shape;98;p1"/>
          <p:cNvSpPr/>
          <p:nvPr/>
        </p:nvSpPr>
        <p:spPr>
          <a:xfrm>
            <a:off x="112200" y="15942825"/>
            <a:ext cx="7562100" cy="6003000"/>
          </a:xfrm>
          <a:prstGeom prst="roundRect">
            <a:avLst>
              <a:gd name="adj" fmla="val 2700"/>
            </a:avLst>
          </a:prstGeom>
          <a:solidFill>
            <a:srgbClr val="ACB8C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endParaRPr sz="66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146087" y="16525396"/>
            <a:ext cx="7534500" cy="3754834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595959"/>
                </a:solidFill>
                <a:latin typeface="Times New Roman" panose="02020603050405020304" pitchFamily="18" charset="0"/>
                <a:ea typeface="Domine"/>
                <a:cs typeface="Times New Roman" panose="02020603050405020304" pitchFamily="18" charset="0"/>
                <a:sym typeface="Domine"/>
              </a:rPr>
              <a:t>Participants</a:t>
            </a:r>
            <a:r>
              <a:rPr lang="en-US" sz="2000" b="0" i="0" u="none" strike="noStrike" cap="none" dirty="0">
                <a:solidFill>
                  <a:srgbClr val="595959"/>
                </a:solidFill>
                <a:latin typeface="Times New Roman" panose="02020603050405020304" pitchFamily="18" charset="0"/>
                <a:ea typeface="Domine"/>
                <a:cs typeface="Times New Roman" panose="02020603050405020304" pitchFamily="18" charset="0"/>
                <a:sym typeface="Domine"/>
              </a:rPr>
              <a:t> n = 3;  (all 11 months, 2 M; 1F)</a:t>
            </a:r>
            <a:endParaRPr sz="20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2857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None/>
            </a:pPr>
            <a:endParaRPr sz="2000" b="0" i="0" u="none" strike="noStrike" cap="none" dirty="0">
              <a:solidFill>
                <a:srgbClr val="595959"/>
              </a:solidFill>
              <a:latin typeface="Times New Roman" panose="02020603050405020304" pitchFamily="18" charset="0"/>
              <a:ea typeface="Domine"/>
              <a:cs typeface="Times New Roman" panose="02020603050405020304" pitchFamily="18" charset="0"/>
              <a:sym typeface="Domin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595959"/>
                </a:solidFill>
                <a:latin typeface="Times New Roman" panose="02020603050405020304" pitchFamily="18" charset="0"/>
                <a:ea typeface="Domine"/>
                <a:cs typeface="Times New Roman" panose="02020603050405020304" pitchFamily="18" charset="0"/>
                <a:sym typeface="Domine"/>
              </a:rPr>
              <a:t>Home videos were acquired using a head camera sent home with families. Videos were only coded for </a:t>
            </a:r>
            <a:r>
              <a:rPr lang="en-US" sz="2000" b="1" i="0" u="none" strike="noStrike" cap="none" dirty="0">
                <a:solidFill>
                  <a:srgbClr val="595959"/>
                </a:solidFill>
                <a:latin typeface="Times New Roman" panose="02020603050405020304" pitchFamily="18" charset="0"/>
                <a:ea typeface="Domine"/>
                <a:cs typeface="Times New Roman" panose="02020603050405020304" pitchFamily="18" charset="0"/>
                <a:sym typeface="Domine"/>
              </a:rPr>
              <a:t>mealtime</a:t>
            </a:r>
            <a:r>
              <a:rPr lang="en-US" sz="2000" b="0" i="0" u="none" strike="noStrike" cap="none" dirty="0">
                <a:solidFill>
                  <a:srgbClr val="595959"/>
                </a:solidFill>
                <a:latin typeface="Times New Roman" panose="02020603050405020304" pitchFamily="18" charset="0"/>
                <a:ea typeface="Domine"/>
                <a:cs typeface="Times New Roman" panose="02020603050405020304" pitchFamily="18" charset="0"/>
                <a:sym typeface="Domine"/>
              </a:rPr>
              <a:t>, </a:t>
            </a:r>
            <a:r>
              <a:rPr lang="en-US" sz="2000" b="1" i="0" u="none" strike="noStrike" cap="none" dirty="0">
                <a:solidFill>
                  <a:srgbClr val="595959"/>
                </a:solidFill>
                <a:latin typeface="Times New Roman" panose="02020603050405020304" pitchFamily="18" charset="0"/>
                <a:ea typeface="Domine"/>
                <a:cs typeface="Times New Roman" panose="02020603050405020304" pitchFamily="18" charset="0"/>
                <a:sym typeface="Domine"/>
              </a:rPr>
              <a:t>playtime</a:t>
            </a:r>
            <a:r>
              <a:rPr lang="en-US" sz="2000" b="0" i="0" u="none" strike="noStrike" cap="none" dirty="0">
                <a:solidFill>
                  <a:srgbClr val="595959"/>
                </a:solidFill>
                <a:latin typeface="Times New Roman" panose="02020603050405020304" pitchFamily="18" charset="0"/>
                <a:ea typeface="Domine"/>
                <a:cs typeface="Times New Roman" panose="02020603050405020304" pitchFamily="18" charset="0"/>
                <a:sym typeface="Domine"/>
              </a:rPr>
              <a:t>, and </a:t>
            </a:r>
            <a:r>
              <a:rPr lang="en-US" sz="2000" b="1" i="0" u="none" strike="noStrike" cap="none" dirty="0">
                <a:solidFill>
                  <a:srgbClr val="595959"/>
                </a:solidFill>
                <a:latin typeface="Times New Roman" panose="02020603050405020304" pitchFamily="18" charset="0"/>
                <a:ea typeface="Domine"/>
                <a:cs typeface="Times New Roman" panose="02020603050405020304" pitchFamily="18" charset="0"/>
                <a:sym typeface="Domine"/>
              </a:rPr>
              <a:t>book reading scenes</a:t>
            </a:r>
            <a:r>
              <a:rPr lang="en-US" sz="2000" b="0" i="0" u="none" strike="noStrike" cap="none" dirty="0">
                <a:solidFill>
                  <a:srgbClr val="595959"/>
                </a:solidFill>
                <a:latin typeface="Times New Roman" panose="02020603050405020304" pitchFamily="18" charset="0"/>
                <a:ea typeface="Domine"/>
                <a:cs typeface="Times New Roman" panose="02020603050405020304" pitchFamily="18" charset="0"/>
                <a:sym typeface="Domine"/>
              </a:rPr>
              <a:t>, then parsed into 5-second segments.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595959"/>
              </a:solidFill>
              <a:latin typeface="Times New Roman" panose="02020603050405020304" pitchFamily="18" charset="0"/>
              <a:ea typeface="Domine"/>
              <a:cs typeface="Times New Roman" panose="02020603050405020304" pitchFamily="18" charset="0"/>
              <a:sym typeface="Domin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595959"/>
                </a:solidFill>
                <a:latin typeface="Times New Roman" panose="02020603050405020304" pitchFamily="18" charset="0"/>
                <a:ea typeface="Domine"/>
                <a:cs typeface="Times New Roman" panose="02020603050405020304" pitchFamily="18" charset="0"/>
                <a:sym typeface="Domine"/>
              </a:rPr>
              <a:t>Coding</a:t>
            </a:r>
            <a:r>
              <a:rPr lang="en-US" sz="2000" b="0" i="0" u="none" strike="noStrike" cap="none" dirty="0">
                <a:solidFill>
                  <a:srgbClr val="595959"/>
                </a:solidFill>
                <a:latin typeface="Times New Roman" panose="02020603050405020304" pitchFamily="18" charset="0"/>
                <a:ea typeface="Domine"/>
                <a:cs typeface="Times New Roman" panose="02020603050405020304" pitchFamily="18" charset="0"/>
                <a:sym typeface="Domine"/>
              </a:rPr>
              <a:t>: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rgbClr val="595959"/>
                </a:solidFill>
                <a:latin typeface="Times New Roman" panose="02020603050405020304" pitchFamily="18" charset="0"/>
                <a:ea typeface="Domine"/>
                <a:cs typeface="Times New Roman" panose="02020603050405020304" pitchFamily="18" charset="0"/>
                <a:sym typeface="Domine"/>
              </a:rPr>
              <a:t>Adult speech transcription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rgbClr val="595959"/>
                </a:solidFill>
                <a:latin typeface="Times New Roman" panose="02020603050405020304" pitchFamily="18" charset="0"/>
                <a:ea typeface="Domine"/>
                <a:cs typeface="Times New Roman" panose="02020603050405020304" pitchFamily="18" charset="0"/>
                <a:sym typeface="Domine"/>
              </a:rPr>
              <a:t>Presence and duration of infant vocalizations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rgbClr val="595959"/>
                </a:solidFill>
                <a:latin typeface="Times New Roman" panose="02020603050405020304" pitchFamily="18" charset="0"/>
                <a:ea typeface="Domine"/>
                <a:cs typeface="Times New Roman" panose="02020603050405020304" pitchFamily="18" charset="0"/>
                <a:sym typeface="Domine"/>
              </a:rPr>
              <a:t>Adult response time to the vocalization (within 6 sec., but longer responses accepted if it was clearly related to infant vocalization)</a:t>
            </a:r>
            <a:endParaRPr sz="2000" b="0" i="0" u="none" strike="noStrike" cap="none" dirty="0">
              <a:solidFill>
                <a:srgbClr val="595959"/>
              </a:solidFill>
              <a:latin typeface="Times New Roman" panose="02020603050405020304" pitchFamily="18" charset="0"/>
              <a:ea typeface="Domine"/>
              <a:cs typeface="Times New Roman" panose="02020603050405020304" pitchFamily="18" charset="0"/>
              <a:sym typeface="Domin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595959"/>
              </a:solidFill>
              <a:latin typeface="Times New Roman" panose="02020603050405020304" pitchFamily="18" charset="0"/>
              <a:ea typeface="Domine"/>
              <a:cs typeface="Times New Roman" panose="02020603050405020304" pitchFamily="18" charset="0"/>
              <a:sym typeface="Domine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112200" y="15927604"/>
            <a:ext cx="6874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sng" strike="noStrike" cap="none" dirty="0">
                <a:solidFill>
                  <a:srgbClr val="3F3F3F"/>
                </a:solidFill>
                <a:latin typeface="Times New Roman" panose="02020603050405020304" pitchFamily="18" charset="0"/>
                <a:ea typeface="Montserrat ExtraBold"/>
                <a:cs typeface="Times New Roman" panose="02020603050405020304" pitchFamily="18" charset="0"/>
                <a:sym typeface="Montserrat ExtraBold"/>
              </a:rPr>
              <a:t>General Methods</a:t>
            </a:r>
            <a:endParaRPr sz="2800" b="1" u="sng" dirty="0">
              <a:solidFill>
                <a:srgbClr val="3F3F3F"/>
              </a:solidFill>
              <a:latin typeface="Times New Roman" panose="02020603050405020304" pitchFamily="18" charset="0"/>
              <a:ea typeface="Montserrat ExtraBold"/>
              <a:cs typeface="Times New Roman" panose="02020603050405020304" pitchFamily="18" charset="0"/>
              <a:sym typeface="Montserrat ExtraBold"/>
            </a:endParaRPr>
          </a:p>
        </p:txBody>
      </p:sp>
      <p:sp>
        <p:nvSpPr>
          <p:cNvPr id="101" name="Google Shape;101;p1"/>
          <p:cNvSpPr txBox="1"/>
          <p:nvPr/>
        </p:nvSpPr>
        <p:spPr>
          <a:xfrm>
            <a:off x="8061375" y="5433525"/>
            <a:ext cx="10400700" cy="2785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 b="1" i="0" u="sng" strike="noStrike" cap="none" dirty="0">
                <a:solidFill>
                  <a:srgbClr val="3F3F3F"/>
                </a:solidFill>
                <a:latin typeface="Times New Roman" panose="02020603050405020304" pitchFamily="18" charset="0"/>
                <a:ea typeface="Montserrat ExtraBold"/>
                <a:cs typeface="Times New Roman" panose="02020603050405020304" pitchFamily="18" charset="0"/>
                <a:sym typeface="Montserrat ExtraBold"/>
              </a:rPr>
              <a:t>Question 1: How often do infants vocalize?</a:t>
            </a:r>
            <a:endParaRPr sz="2500" b="0" i="0" u="sng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lang="en-US" sz="2500" i="0" u="none" strike="noStrike" cap="none" dirty="0">
              <a:solidFill>
                <a:srgbClr val="3F3F3F"/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 i="0" u="none" strike="noStrike" cap="none" dirty="0">
                <a:solidFill>
                  <a:srgbClr val="3F3F3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Methods: Created a datavyu column that contained every audible sound that the infant produced</a:t>
            </a:r>
            <a:endParaRPr sz="250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 i="0" u="none" strike="noStrike" cap="none" dirty="0">
                <a:solidFill>
                  <a:srgbClr val="3F3F3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	-IV: </a:t>
            </a:r>
            <a:r>
              <a:rPr lang="en-US" sz="2500" dirty="0">
                <a:solidFill>
                  <a:srgbClr val="3F3F3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Subject</a:t>
            </a:r>
            <a:endParaRPr sz="250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 i="0" u="none" strike="noStrike" cap="none" dirty="0">
                <a:solidFill>
                  <a:srgbClr val="3F3F3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	-DV: Number of vocalizations produced</a:t>
            </a:r>
            <a:endParaRPr sz="250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8111615" y="7962613"/>
            <a:ext cx="10400700" cy="2785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 b="1" i="0" u="sng" strike="noStrike" cap="none" dirty="0">
                <a:solidFill>
                  <a:srgbClr val="3F3F3F"/>
                </a:solidFill>
                <a:latin typeface="Times New Roman" panose="02020603050405020304" pitchFamily="18" charset="0"/>
                <a:ea typeface="Montserrat ExtraBold"/>
                <a:cs typeface="Times New Roman" panose="02020603050405020304" pitchFamily="18" charset="0"/>
                <a:sym typeface="Montserrat ExtraBold"/>
              </a:rPr>
              <a:t>Question 2: How often do parents respond to infant vocalizations?</a:t>
            </a:r>
            <a:endParaRPr sz="2500" b="0" i="0" u="sng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lang="en-US" sz="2500" i="0" u="none" strike="noStrike" cap="none" dirty="0">
              <a:solidFill>
                <a:srgbClr val="3F3F3F"/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 i="0" u="none" strike="noStrike" cap="none" dirty="0">
                <a:solidFill>
                  <a:srgbClr val="3F3F3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Methods: Created a datavyu column that contained every contextually relevant parental response to infant vocalization</a:t>
            </a:r>
            <a:endParaRPr sz="250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 i="0" u="none" strike="noStrike" cap="none" dirty="0">
                <a:solidFill>
                  <a:srgbClr val="3F3F3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	-IV: </a:t>
            </a:r>
            <a:r>
              <a:rPr lang="en-US" sz="2500" dirty="0">
                <a:solidFill>
                  <a:srgbClr val="3F3F3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Subject</a:t>
            </a:r>
            <a:endParaRPr sz="250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 i="0" u="none" strike="noStrike" cap="none" dirty="0">
                <a:solidFill>
                  <a:srgbClr val="3F3F3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	-DV: Number of parental responses/non-responses </a:t>
            </a:r>
            <a:endParaRPr sz="250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03" name="Google Shape;103;p1"/>
          <p:cNvSpPr txBox="1"/>
          <p:nvPr/>
        </p:nvSpPr>
        <p:spPr>
          <a:xfrm>
            <a:off x="12855528" y="11226769"/>
            <a:ext cx="11785334" cy="3554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500" b="1" i="0" u="sng" strike="noStrike" cap="none" dirty="0">
                <a:solidFill>
                  <a:srgbClr val="3F3F3F"/>
                </a:solidFill>
                <a:latin typeface="Times New Roman" panose="02020603050405020304" pitchFamily="18" charset="0"/>
                <a:ea typeface="Montserrat ExtraBold"/>
                <a:cs typeface="Times New Roman" panose="02020603050405020304" pitchFamily="18" charset="0"/>
                <a:sym typeface="Montserrat ExtraBold"/>
              </a:rPr>
              <a:t>Question 3: </a:t>
            </a:r>
            <a:r>
              <a:rPr lang="en-US" sz="2500" b="1" u="sng" dirty="0">
                <a:solidFill>
                  <a:srgbClr val="3F3F3F"/>
                </a:solidFill>
                <a:latin typeface="Times New Roman" panose="02020603050405020304" pitchFamily="18" charset="0"/>
                <a:ea typeface="Montserrat ExtraBold"/>
                <a:cs typeface="Times New Roman" panose="02020603050405020304" pitchFamily="18" charset="0"/>
                <a:sym typeface="Montserrat ExtraBold"/>
              </a:rPr>
              <a:t>Does the length of the infant’s vocalization affect the response time from the parents?</a:t>
            </a:r>
            <a:endParaRPr sz="2500" b="0" i="0" u="sng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lang="en-US" sz="2500" i="0" u="none" strike="noStrike" cap="none" dirty="0">
              <a:solidFill>
                <a:srgbClr val="3F3F3F"/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500" i="0" u="none" strike="noStrike" cap="none" dirty="0">
                <a:solidFill>
                  <a:srgbClr val="3F3F3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Methods: Used d</a:t>
            </a:r>
            <a:r>
              <a:rPr lang="en-US" sz="2500" dirty="0">
                <a:solidFill>
                  <a:srgbClr val="3F3F3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atavyu columns and onset and offset tools to measure the duration of vocalizations and the start of the response</a:t>
            </a:r>
            <a:endParaRPr sz="250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500" i="0" u="none" strike="noStrike" cap="none" dirty="0">
                <a:solidFill>
                  <a:srgbClr val="3F3F3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	-IV: The length of the vocalization (grouped)</a:t>
            </a:r>
            <a:endParaRPr sz="250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500" i="0" u="none" strike="noStrike" cap="none" dirty="0">
                <a:solidFill>
                  <a:srgbClr val="3F3F3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	-DV: The </a:t>
            </a:r>
            <a:r>
              <a:rPr lang="en-US" sz="2500" dirty="0">
                <a:solidFill>
                  <a:srgbClr val="3F3F3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time it takes the parent to respond (response time)</a:t>
            </a:r>
            <a:endParaRPr sz="250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2500" b="1" i="0" u="none" strike="noStrike" cap="none" dirty="0">
              <a:solidFill>
                <a:srgbClr val="3F3F3F"/>
              </a:solidFill>
              <a:latin typeface="Times New Roman" panose="02020603050405020304" pitchFamily="18" charset="0"/>
              <a:ea typeface="Montserrat ExtraBold"/>
              <a:cs typeface="Times New Roman" panose="02020603050405020304" pitchFamily="18" charset="0"/>
              <a:sym typeface="Montserrat ExtraBol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25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8018032" y="16773183"/>
            <a:ext cx="7223028" cy="4324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500" b="1" i="0" u="sng" strike="noStrike" cap="none" dirty="0">
                <a:solidFill>
                  <a:srgbClr val="3F3F3F"/>
                </a:solidFill>
                <a:latin typeface="Times New Roman" panose="02020603050405020304" pitchFamily="18" charset="0"/>
                <a:ea typeface="Montserrat ExtraBold"/>
                <a:cs typeface="Times New Roman" panose="02020603050405020304" pitchFamily="18" charset="0"/>
                <a:sym typeface="Montserrat ExtraBold"/>
              </a:rPr>
              <a:t>Question 4: What is the content of parental response? What noun labeling or noun usage occurs in a response?</a:t>
            </a:r>
            <a:endParaRPr sz="2500" b="1" i="0" u="sng" strike="noStrike" cap="none" dirty="0">
              <a:solidFill>
                <a:srgbClr val="3F3F3F"/>
              </a:solidFill>
              <a:latin typeface="Times New Roman" panose="02020603050405020304" pitchFamily="18" charset="0"/>
              <a:ea typeface="Montserrat ExtraBold"/>
              <a:cs typeface="Times New Roman" panose="02020603050405020304" pitchFamily="18" charset="0"/>
              <a:sym typeface="Montserrat ExtraBol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lang="en-US" sz="2500" i="0" u="none" strike="noStrike" cap="none" dirty="0">
              <a:solidFill>
                <a:srgbClr val="3F3F3F"/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500" i="0" u="none" strike="noStrike" cap="none" dirty="0">
                <a:solidFill>
                  <a:srgbClr val="3F3F3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Methods: Used </a:t>
            </a:r>
            <a:r>
              <a:rPr lang="en-US" sz="2500" dirty="0">
                <a:solidFill>
                  <a:srgbClr val="3F3F3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d</a:t>
            </a:r>
            <a:r>
              <a:rPr lang="en-US" sz="2500" i="0" u="none" strike="noStrike" cap="none" dirty="0">
                <a:solidFill>
                  <a:srgbClr val="3F3F3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atavyu to code for nouns and noun categories on the MCDI </a:t>
            </a:r>
            <a:r>
              <a:rPr lang="en-US" sz="2500" dirty="0">
                <a:solidFill>
                  <a:srgbClr val="3F3F3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(</a:t>
            </a:r>
            <a:r>
              <a:rPr lang="en-US" sz="2500" i="0" u="none" strike="noStrike" cap="none" dirty="0">
                <a:solidFill>
                  <a:srgbClr val="3F3F3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vocabulary checklist) in the adult responses</a:t>
            </a:r>
            <a:endParaRPr sz="250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500" i="0" u="none" strike="noStrike" cap="none" dirty="0">
                <a:solidFill>
                  <a:srgbClr val="3F3F3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	-IV: Subject</a:t>
            </a:r>
            <a:endParaRPr sz="250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500" i="0" u="none" strike="noStrike" cap="none" dirty="0">
                <a:solidFill>
                  <a:srgbClr val="3F3F3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	-DV: Nouns and noun categories used during 	response</a:t>
            </a:r>
            <a:endParaRPr sz="250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endParaRPr sz="25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24990228" y="10882785"/>
            <a:ext cx="6874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sng" strike="noStrike" cap="none" dirty="0">
                <a:solidFill>
                  <a:srgbClr val="3F3F3F"/>
                </a:solidFill>
                <a:latin typeface="Times New Roman" panose="02020603050405020304" pitchFamily="18" charset="0"/>
                <a:ea typeface="Montserrat ExtraBold"/>
                <a:cs typeface="Times New Roman" panose="02020603050405020304" pitchFamily="18" charset="0"/>
                <a:sym typeface="Montserrat ExtraBold"/>
              </a:rPr>
              <a:t>Conclusion</a:t>
            </a:r>
            <a:endParaRPr sz="1400" b="0" i="0" u="sng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24943442" y="11687327"/>
            <a:ext cx="7813204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400"/>
            </a:pPr>
            <a:r>
              <a:rPr lang="en-US" sz="2400" b="0" i="0" u="none" strike="noStrike" cap="none" dirty="0">
                <a:solidFill>
                  <a:srgbClr val="595959"/>
                </a:solidFill>
                <a:latin typeface="Times New Roman" panose="02020603050405020304" pitchFamily="18" charset="0"/>
                <a:ea typeface="Domine"/>
                <a:cs typeface="Times New Roman" panose="02020603050405020304" pitchFamily="18" charset="0"/>
                <a:sym typeface="Domine"/>
              </a:rPr>
              <a:t>Although infant vocalizations make up a minimal portion of home environment speech, it has a strong impact on non-infant conversation, eliciting parent response and noun labels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24972042" y="13400914"/>
            <a:ext cx="6874704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sng" strike="noStrike" cap="none" dirty="0">
                <a:solidFill>
                  <a:srgbClr val="3F3F3F"/>
                </a:solidFill>
                <a:latin typeface="Times New Roman" panose="02020603050405020304" pitchFamily="18" charset="0"/>
                <a:ea typeface="Montserrat ExtraBold"/>
                <a:cs typeface="Times New Roman" panose="02020603050405020304" pitchFamily="18" charset="0"/>
                <a:sym typeface="Montserrat ExtraBold"/>
              </a:rPr>
              <a:t>Limitations &amp; Future Directions</a:t>
            </a:r>
            <a:endParaRPr sz="1400" b="0" i="0" u="sng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08" name="Google Shape;108;p1"/>
          <p:cNvSpPr txBox="1"/>
          <p:nvPr/>
        </p:nvSpPr>
        <p:spPr>
          <a:xfrm>
            <a:off x="24971994" y="14145853"/>
            <a:ext cx="6874800" cy="341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rgbClr val="595959"/>
                </a:solidFill>
                <a:latin typeface="Times New Roman" panose="02020603050405020304" pitchFamily="18" charset="0"/>
                <a:ea typeface="Domine"/>
                <a:cs typeface="Times New Roman" panose="02020603050405020304" pitchFamily="18" charset="0"/>
                <a:sym typeface="Domine"/>
              </a:rPr>
              <a:t>How rate of vocalization and parent response change as infants age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rgbClr val="595959"/>
                </a:solidFill>
                <a:latin typeface="Times New Roman" panose="02020603050405020304" pitchFamily="18" charset="0"/>
                <a:ea typeface="Domine"/>
                <a:cs typeface="Times New Roman" panose="02020603050405020304" pitchFamily="18" charset="0"/>
                <a:sym typeface="Domine"/>
              </a:rPr>
              <a:t>Extending analyses to other home scenes beyond mealtime, playtime, and book reading</a:t>
            </a:r>
            <a:endParaRPr sz="1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rgbClr val="595959"/>
                </a:solidFill>
                <a:latin typeface="Times New Roman" panose="02020603050405020304" pitchFamily="18" charset="0"/>
                <a:ea typeface="Domine"/>
                <a:cs typeface="Times New Roman" panose="02020603050405020304" pitchFamily="18" charset="0"/>
                <a:sym typeface="Domine"/>
              </a:rPr>
              <a:t>Other phonetic/acoustic properties of the vocalization (e.g., pitch, loudness)</a:t>
            </a:r>
            <a:endParaRPr sz="1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rgbClr val="595959"/>
                </a:solidFill>
                <a:latin typeface="Times New Roman" panose="02020603050405020304" pitchFamily="18" charset="0"/>
                <a:ea typeface="Domine"/>
                <a:cs typeface="Times New Roman" panose="02020603050405020304" pitchFamily="18" charset="0"/>
                <a:sym typeface="Domine"/>
              </a:rPr>
              <a:t>Other aspects of infant communication (e.g., gestures, facial reactions) and parent response (e.g., touch, eye gaze)</a:t>
            </a:r>
            <a:endParaRPr sz="1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grpSp>
        <p:nvGrpSpPr>
          <p:cNvPr id="109" name="Google Shape;109;p1"/>
          <p:cNvGrpSpPr/>
          <p:nvPr/>
        </p:nvGrpSpPr>
        <p:grpSpPr>
          <a:xfrm>
            <a:off x="631755" y="20541427"/>
            <a:ext cx="6355245" cy="1185949"/>
            <a:chOff x="723654" y="19221298"/>
            <a:chExt cx="6959821" cy="1828235"/>
          </a:xfrm>
        </p:grpSpPr>
        <p:pic>
          <p:nvPicPr>
            <p:cNvPr id="110" name="Google Shape;110;p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23654" y="19221298"/>
              <a:ext cx="2185305" cy="18282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1" name="Google Shape;111;p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197046" y="19225471"/>
              <a:ext cx="2019151" cy="18198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2" name="Google Shape;112;p1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498169" y="19221298"/>
              <a:ext cx="2185306" cy="182823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13" name="Google Shape;113;p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9968351" y="19093625"/>
            <a:ext cx="4234725" cy="260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7677342" y="16275756"/>
            <a:ext cx="4234725" cy="26862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5278075" y="19125850"/>
            <a:ext cx="4213099" cy="2601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8914875" y="5048775"/>
            <a:ext cx="4719789" cy="2686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8914875" y="8068677"/>
            <a:ext cx="4719800" cy="26862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8043376" y="11150332"/>
            <a:ext cx="4527432" cy="492143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31051B2-08B5-79AE-3FA6-48A4666082F7}"/>
              </a:ext>
            </a:extLst>
          </p:cNvPr>
          <p:cNvCxnSpPr/>
          <p:nvPr/>
        </p:nvCxnSpPr>
        <p:spPr>
          <a:xfrm>
            <a:off x="7717803" y="11021381"/>
            <a:ext cx="1720776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D710798-6D60-E74E-F20B-C4E6B7D76285}"/>
              </a:ext>
            </a:extLst>
          </p:cNvPr>
          <p:cNvCxnSpPr/>
          <p:nvPr/>
        </p:nvCxnSpPr>
        <p:spPr>
          <a:xfrm>
            <a:off x="7674300" y="16200717"/>
            <a:ext cx="1720776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19C58DCF-1E2F-4D33-BD1C-15FFC6C98A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9593231"/>
              </p:ext>
            </p:extLst>
          </p:nvPr>
        </p:nvGraphicFramePr>
        <p:xfrm>
          <a:off x="13655275" y="14192182"/>
          <a:ext cx="10519200" cy="16945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840">
                  <a:extLst>
                    <a:ext uri="{9D8B030D-6E8A-4147-A177-3AD203B41FA5}">
                      <a16:colId xmlns:a16="http://schemas.microsoft.com/office/drawing/2014/main" val="2396583514"/>
                    </a:ext>
                  </a:extLst>
                </a:gridCol>
                <a:gridCol w="2103840">
                  <a:extLst>
                    <a:ext uri="{9D8B030D-6E8A-4147-A177-3AD203B41FA5}">
                      <a16:colId xmlns:a16="http://schemas.microsoft.com/office/drawing/2014/main" val="1388061508"/>
                    </a:ext>
                  </a:extLst>
                </a:gridCol>
                <a:gridCol w="2103840">
                  <a:extLst>
                    <a:ext uri="{9D8B030D-6E8A-4147-A177-3AD203B41FA5}">
                      <a16:colId xmlns:a16="http://schemas.microsoft.com/office/drawing/2014/main" val="2063638933"/>
                    </a:ext>
                  </a:extLst>
                </a:gridCol>
                <a:gridCol w="2103840">
                  <a:extLst>
                    <a:ext uri="{9D8B030D-6E8A-4147-A177-3AD203B41FA5}">
                      <a16:colId xmlns:a16="http://schemas.microsoft.com/office/drawing/2014/main" val="1364084451"/>
                    </a:ext>
                  </a:extLst>
                </a:gridCol>
                <a:gridCol w="2103840">
                  <a:extLst>
                    <a:ext uri="{9D8B030D-6E8A-4147-A177-3AD203B41FA5}">
                      <a16:colId xmlns:a16="http://schemas.microsoft.com/office/drawing/2014/main" val="875823696"/>
                    </a:ext>
                  </a:extLst>
                </a:gridCol>
              </a:tblGrid>
              <a:tr h="426341">
                <a:tc>
                  <a:txBody>
                    <a:bodyPr/>
                    <a:lstStyle/>
                    <a:p>
                      <a:pPr algn="l"/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&lt;0.897 sec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&gt;.897 and &lt;1.344 sec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 1.344 &amp; &lt;2.548 sec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 2.548 &amp; &lt; 18.227 sec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67109038"/>
                  </a:ext>
                </a:extLst>
              </a:tr>
              <a:tr h="496582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0.9178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0.9293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0.4399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-1.700</a:t>
                      </a:r>
                    </a:p>
                    <a:p>
                      <a:pPr algn="l"/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672427"/>
                  </a:ext>
                </a:extLst>
              </a:tr>
              <a:tr h="344527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0.4825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0.444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0.31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-0.465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453274"/>
                  </a:ext>
                </a:extLst>
              </a:tr>
              <a:tr h="344527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1.73357109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1.70969403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1.34198398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3.84334976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6203332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A5685D6F-079C-36E6-DB5E-F98697D1C00F}"/>
              </a:ext>
            </a:extLst>
          </p:cNvPr>
          <p:cNvSpPr txBox="1"/>
          <p:nvPr/>
        </p:nvSpPr>
        <p:spPr>
          <a:xfrm>
            <a:off x="25200599" y="18189278"/>
            <a:ext cx="7485465" cy="32378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buSzPts val="11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Bloom, K., Russell, A., &amp; Wassenberg, K. (1987). Turn taking affects the quality of infant vocalizations.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Child Language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(2), 211–227. </a:t>
            </a:r>
            <a:endParaRPr lang="en-US" b="0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lvl="0">
              <a:spcBef>
                <a:spcPts val="600"/>
              </a:spcBef>
              <a:spcAft>
                <a:spcPts val="600"/>
              </a:spcAft>
              <a:buSzPts val="1100"/>
            </a:pPr>
            <a:r>
              <a:rPr lang="en-US" sz="1400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Bornstein, M. H., Putnick, D. L., Cote, L. R., Haynes, O. M., &amp; Suwalsky, J. T. (2015). Mother-infant contingent vocalizations in 11 countries. </a:t>
            </a:r>
            <a:r>
              <a:rPr lang="en-US" sz="1400" b="0" i="1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Psychological Science</a:t>
            </a:r>
            <a:r>
              <a:rPr lang="en-US" sz="1400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, </a:t>
            </a:r>
            <a:r>
              <a:rPr lang="en-US" sz="1400" b="0" i="1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26</a:t>
            </a:r>
            <a:r>
              <a:rPr lang="en-US" sz="1400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(8), 1272-1284</a:t>
            </a: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44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Goldstein, M. H., &amp; Schwade, J. A. (2008). Social feedback to infants’ babbling facilitates rapid phonological learning.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Psychological Science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(5), 515–523.</a:t>
            </a:r>
            <a:endParaRPr lang="en-US" sz="1400" b="0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Smith, P. B., &amp; Pederson, D. R. (1988). Maternal sensitivity and patterns of infant-mother attachment. </a:t>
            </a:r>
            <a:r>
              <a:rPr lang="en-US" sz="1400" b="0" i="1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Child development</a:t>
            </a:r>
            <a:r>
              <a:rPr lang="en-US" sz="1400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, 1097-1101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lang="en-US" sz="1400" b="0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>
              <a:lnSpc>
                <a:spcPct val="90000"/>
              </a:lnSpc>
              <a:buClr>
                <a:schemeClr val="dk1"/>
              </a:buClr>
              <a:buSzPts val="4400"/>
            </a:pPr>
            <a:endParaRPr lang="en-US" dirty="0"/>
          </a:p>
          <a:p>
            <a:pPr>
              <a:lnSpc>
                <a:spcPct val="90000"/>
              </a:lnSpc>
              <a:buClr>
                <a:schemeClr val="dk1"/>
              </a:buClr>
              <a:buSzPts val="4400"/>
            </a:pPr>
            <a:endParaRPr lang="en-US" dirty="0"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lang="en-US" sz="1400" b="0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880</Words>
  <Application>Microsoft Office PowerPoint</Application>
  <PresentationFormat>Custom</PresentationFormat>
  <Paragraphs>98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Montserrat ExtraBold</vt:lpstr>
      <vt:lpstr>Arial</vt:lpstr>
      <vt:lpstr>Times New Roman</vt:lpstr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Austin Himebaugh</cp:lastModifiedBy>
  <cp:revision>3</cp:revision>
  <dcterms:modified xsi:type="dcterms:W3CDTF">2025-04-14T23:09:27Z</dcterms:modified>
</cp:coreProperties>
</file>